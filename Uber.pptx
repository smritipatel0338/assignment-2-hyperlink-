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07" r:id="rId6"/>
    <p:sldId id="308" r:id="rId7"/>
    <p:sldId id="318" r:id="rId8"/>
    <p:sldId id="278" r:id="rId9"/>
    <p:sldId id="309" r:id="rId10"/>
    <p:sldId id="263" r:id="rId11"/>
    <p:sldId id="310" r:id="rId12"/>
    <p:sldId id="312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1C507A-D4DE-4AF0-9972-97D181E0DB5B}" v="24" dt="2025-11-05T04:39:01.864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317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wired.it/economia/business/2016/12/20/uber-perdita-800-milioni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581" y="2163096"/>
            <a:ext cx="10489495" cy="3780503"/>
          </a:xfrm>
        </p:spPr>
        <p:txBody>
          <a:bodyPr anchor="ctr"/>
          <a:lstStyle/>
          <a:p>
            <a:r>
              <a:rPr lang="en-US" dirty="0"/>
              <a:t>Uber: </a:t>
            </a:r>
            <a:r>
              <a:rPr lang="en-US" sz="4000" dirty="0">
                <a:latin typeface="Agency FB" panose="020B0503020202020204" pitchFamily="34" charset="0"/>
              </a:rPr>
              <a:t>revolutionary transportation</a:t>
            </a:r>
            <a:br>
              <a:rPr lang="en-US" dirty="0"/>
            </a:br>
            <a:r>
              <a:rPr lang="en-US" sz="3600" dirty="0"/>
              <a:t>rethinking how the world moves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800" dirty="0"/>
              <a:t>Name-Smriti Patel</a:t>
            </a:r>
            <a:br>
              <a:rPr lang="en-US" sz="2800" dirty="0"/>
            </a:br>
            <a:r>
              <a:rPr lang="en-US" sz="2800" dirty="0" err="1"/>
              <a:t>Admn</a:t>
            </a:r>
            <a:r>
              <a:rPr lang="en-US" sz="2800" dirty="0"/>
              <a:t> no-2025B01010338</a:t>
            </a:r>
            <a:br>
              <a:rPr lang="en-US" sz="2800" dirty="0"/>
            </a:br>
            <a:r>
              <a:rPr lang="en-US" sz="2800" dirty="0"/>
              <a:t>Branch and Sec-CSE-27</a:t>
            </a:r>
            <a:br>
              <a:rPr lang="en-US" sz="2800" dirty="0"/>
            </a:br>
            <a:r>
              <a:rPr lang="en-US" sz="2800" dirty="0"/>
              <a:t>SUBJECT-Design Thinking (25HU102)</a:t>
            </a:r>
            <a:br>
              <a:rPr lang="en-US" sz="2800" dirty="0"/>
            </a:br>
            <a:r>
              <a:rPr lang="en-US" sz="2800" dirty="0"/>
              <a:t>SESSION-(2025-26)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461" y="570271"/>
            <a:ext cx="5641848" cy="50292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lgerian" panose="04020705040A02060702" pitchFamily="82" charset="0"/>
              </a:rPr>
              <a:t>Core 5 Stage model</a:t>
            </a:r>
            <a:br>
              <a:rPr lang="en-US" b="1" dirty="0">
                <a:solidFill>
                  <a:srgbClr val="002060"/>
                </a:solidFill>
                <a:latin typeface="Algerian" panose="04020705040A02060702" pitchFamily="82" charset="0"/>
              </a:rPr>
            </a:br>
            <a:r>
              <a:rPr lang="en-US" b="1" dirty="0">
                <a:solidFill>
                  <a:srgbClr val="002060"/>
                </a:solidFill>
                <a:latin typeface="Algerian" panose="04020705040A02060702" pitchFamily="82" charset="0"/>
              </a:rPr>
              <a:t>CASE STUDY-UBER </a:t>
            </a:r>
            <a:br>
              <a:rPr lang="en-US" b="1" dirty="0">
                <a:solidFill>
                  <a:srgbClr val="002060"/>
                </a:solidFill>
                <a:latin typeface="Algerian" panose="04020705040A02060702" pitchFamily="82" charset="0"/>
              </a:rPr>
            </a:br>
            <a:endParaRPr lang="en-US" b="1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412749"/>
              </p:ext>
            </p:extLst>
          </p:nvPr>
        </p:nvGraphicFramePr>
        <p:xfrm>
          <a:off x="6221187" y="718458"/>
          <a:ext cx="4910352" cy="5831021"/>
        </p:xfrm>
        <a:graphic>
          <a:graphicData uri="http://schemas.openxmlformats.org/drawingml/2006/table">
            <a:tbl>
              <a:tblPr firstRow="1" bandRow="1"/>
              <a:tblGrid>
                <a:gridCol w="4910352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98408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BACKGROUND AND EMPATHIZE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3-4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1088640">
                <a:tc>
                  <a:txBody>
                    <a:bodyPr/>
                    <a:lstStyle/>
                    <a:p>
                      <a:pPr algn="r"/>
                      <a:endParaRPr lang="en-US" sz="2400" b="1" dirty="0">
                        <a:latin typeface="Aparajita" panose="02020603050405020304" pitchFamily="18" charset="0"/>
                        <a:cs typeface="Aparajita" panose="02020603050405020304" pitchFamily="18" charset="0"/>
                      </a:endParaRPr>
                    </a:p>
                    <a:p>
                      <a:pPr algn="r"/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DEFINE</a:t>
                      </a:r>
                    </a:p>
                    <a:p>
                      <a:pPr algn="r"/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868989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IDEATE</a:t>
                      </a:r>
                    </a:p>
                    <a:p>
                      <a:pPr algn="r"/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86898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PROTOTYPE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175857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TEST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8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________________________________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OUTCOME AND RESULT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9-10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21">
            <a:extLst>
              <a:ext uri="{FF2B5EF4-FFF2-40B4-BE49-F238E27FC236}">
                <a16:creationId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5196" r="25196"/>
          <a:stretch/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DBA9DC-D856-93CF-DA64-4F0942E6BE09}"/>
              </a:ext>
            </a:extLst>
          </p:cNvPr>
          <p:cNvSpPr txBox="1"/>
          <p:nvPr/>
        </p:nvSpPr>
        <p:spPr>
          <a:xfrm>
            <a:off x="422787" y="2559211"/>
            <a:ext cx="682358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Difficult to find/hail a taxi, especially in bad weather or non-central areas.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​High uncertainty; no idea when a cab would arrive.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​Inconvenient "cash-only" payments.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​Opaque pricing and risk of "taking the long route."​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>
                <a:latin typeface="Ink Free" panose="03080402000500000000" pitchFamily="66" charset="0"/>
              </a:rPr>
              <a:t>General safety and trust concerns</a:t>
            </a:r>
            <a:r>
              <a:rPr lang="en-IN" sz="3200" dirty="0">
                <a:latin typeface="Blackadder ITC" panose="04020505051007020D02" pitchFamily="82" charset="0"/>
              </a:rPr>
              <a:t>.​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DC2B0-8243-79C0-8C8B-47E4A1B6FA0A}"/>
              </a:ext>
            </a:extLst>
          </p:cNvPr>
          <p:cNvSpPr txBox="1"/>
          <p:nvPr/>
        </p:nvSpPr>
        <p:spPr>
          <a:xfrm>
            <a:off x="226142" y="266917"/>
            <a:ext cx="91145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Forte" panose="03060902040502070203" pitchFamily="66" charset="0"/>
              </a:rPr>
              <a:t>Background And Empathize</a:t>
            </a:r>
          </a:p>
          <a:p>
            <a:r>
              <a:rPr lang="en-IN" sz="3600" dirty="0">
                <a:latin typeface="Agency FB" panose="020B0503020202020204" pitchFamily="34" charset="0"/>
              </a:rPr>
              <a:t>​Problem: Severe inefficiency in urban transportation.​</a:t>
            </a:r>
          </a:p>
          <a:p>
            <a:r>
              <a:rPr lang="en-IN" sz="3600" dirty="0">
                <a:latin typeface="Agency FB" panose="020B0503020202020204" pitchFamily="34" charset="0"/>
              </a:rPr>
              <a:t>User (Rider) Pain Points:​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0B68F9-0603-2EC3-CDF6-6C6CA309A8AC}"/>
              </a:ext>
            </a:extLst>
          </p:cNvPr>
          <p:cNvSpPr txBox="1"/>
          <p:nvPr/>
        </p:nvSpPr>
        <p:spPr>
          <a:xfrm>
            <a:off x="855405" y="629265"/>
            <a:ext cx="10068233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Forte" panose="03060902040502070203" pitchFamily="66" charset="0"/>
              </a:rPr>
              <a:t>​User (Driver) Pain Points:</a:t>
            </a:r>
          </a:p>
          <a:p>
            <a:endParaRPr lang="en-US" sz="5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​I</a:t>
            </a:r>
            <a:r>
              <a:rPr lang="en-US" sz="3600" dirty="0">
                <a:latin typeface="Ink Free" panose="03080402000500000000" pitchFamily="66" charset="0"/>
              </a:rPr>
              <a:t>nefficient; significant unpaid time spent "cruising" for passengers.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Ink Free" panose="03080402000500000000" pitchFamily="66" charset="0"/>
              </a:rPr>
              <a:t>​Rigid schedules and high costs of taxi medallions/dispatch fees.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Ink Free" panose="03080402000500000000" pitchFamily="66" charset="0"/>
              </a:rPr>
              <a:t>.Safety risks and inconvenience of handling cash</a:t>
            </a:r>
            <a:r>
              <a:rPr lang="en-US" sz="3600" dirty="0"/>
              <a:t>.</a:t>
            </a:r>
          </a:p>
          <a:p>
            <a:r>
              <a:rPr lang="en-US" sz="2800" dirty="0"/>
              <a:t>​</a:t>
            </a:r>
            <a:r>
              <a:rPr lang="en-US" sz="2800" b="1" i="1" dirty="0"/>
              <a:t>Need: A reliable, safe, convenient, a affordable on-demand solution.</a:t>
            </a:r>
            <a:endParaRPr lang="en-IN" sz="2800" b="1" i="1" dirty="0"/>
          </a:p>
        </p:txBody>
      </p:sp>
    </p:spTree>
    <p:extLst>
      <p:ext uri="{BB962C8B-B14F-4D97-AF65-F5344CB8AC3E}">
        <p14:creationId xmlns:p14="http://schemas.microsoft.com/office/powerpoint/2010/main" val="2301801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431" y="261780"/>
            <a:ext cx="5449824" cy="2192594"/>
          </a:xfrm>
        </p:spPr>
        <p:txBody>
          <a:bodyPr anchor="b"/>
          <a:lstStyle/>
          <a:p>
            <a:r>
              <a:rPr lang="en-US" dirty="0">
                <a:latin typeface="Forte" panose="03060902040502070203" pitchFamily="66" charset="0"/>
              </a:rPr>
              <a:t>DEFINE</a:t>
            </a:r>
          </a:p>
        </p:txBody>
      </p:sp>
      <p:pic>
        <p:nvPicPr>
          <p:cNvPr id="6" name="Picture Placeholder 5" descr="A hand holding a phone with a logo on the screen&#10;&#10;AI-generated content may be incorrect.">
            <a:extLst>
              <a:ext uri="{FF2B5EF4-FFF2-40B4-BE49-F238E27FC236}">
                <a16:creationId xmlns:a16="http://schemas.microsoft.com/office/drawing/2014/main" id="{FD63C130-FB36-27F5-F2FF-C99E885F71E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6696" t="-898" r="42298" b="898"/>
          <a:stretch>
            <a:fillRect/>
          </a:stretch>
        </p:blipFill>
        <p:spPr>
          <a:xfrm>
            <a:off x="167476" y="130890"/>
            <a:ext cx="5046134" cy="6596220"/>
          </a:xfr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7910" y="2831691"/>
            <a:ext cx="6636774" cy="3130198"/>
          </a:xfrm>
        </p:spPr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​Core Problem Statement: </a:t>
            </a:r>
          </a:p>
          <a:p>
            <a:r>
              <a:rPr lang="en-US" b="1" i="1" dirty="0">
                <a:latin typeface="Gill Sans Ultra Bold" panose="020B0A02020104020203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might we use technology to connect passengers who need a ride with available drivers in a simple, reliable, and cashless way that benefits both?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D05A1-7817-46F1-1666-4466FF0E30FD}"/>
              </a:ext>
            </a:extLst>
          </p:cNvPr>
          <p:cNvSpPr txBox="1"/>
          <p:nvPr/>
        </p:nvSpPr>
        <p:spPr>
          <a:xfrm>
            <a:off x="0" y="6858000"/>
            <a:ext cx="50461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www.wired.it/economia/business/2016/12/20/uber-perdita-800-milioni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nc-nd/3.0/"/>
              </a:rPr>
              <a:t>CC BY-NC-ND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86698"/>
            <a:ext cx="7534656" cy="1066799"/>
          </a:xfrm>
        </p:spPr>
        <p:txBody>
          <a:bodyPr/>
          <a:lstStyle/>
          <a:p>
            <a:r>
              <a:rPr lang="en-US" sz="5400" dirty="0">
                <a:latin typeface="Forte" panose="03060902040502070203" pitchFamily="66" charset="0"/>
              </a:rPr>
              <a:t>IDEATE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7253" y="1720645"/>
            <a:ext cx="11012128" cy="46506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​</a:t>
            </a:r>
            <a:r>
              <a:rPr lang="en-US" sz="2400" b="1" dirty="0">
                <a:latin typeface="Agency FB" panose="020B0503020202020204" pitchFamily="34" charset="0"/>
              </a:rPr>
              <a:t>Core Idea: "Push a button, get a ride.“</a:t>
            </a:r>
          </a:p>
          <a:p>
            <a:pPr marL="0" indent="0">
              <a:buNone/>
            </a:pPr>
            <a:r>
              <a:rPr lang="en-US" sz="2400" b="1" dirty="0">
                <a:latin typeface="Agency FB" panose="020B0503020202020204" pitchFamily="34" charset="0"/>
              </a:rPr>
              <a:t>​Explored Solutions: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​</a:t>
            </a:r>
            <a:r>
              <a:rPr lang="en-US" b="1" dirty="0">
                <a:latin typeface="Gill Sans Ultra Bold" panose="020B0A02020104020203" pitchFamily="34" charset="0"/>
              </a:rPr>
              <a:t>Use smartphone GPS to pinpoint both rider and driver locations on a map.</a:t>
            </a:r>
          </a:p>
          <a:p>
            <a:pPr marL="0" indent="0">
              <a:buNone/>
            </a:pPr>
            <a:r>
              <a:rPr lang="en-US" b="1" dirty="0">
                <a:latin typeface="Gill Sans Ultra Bold" panose="020B0A02020104020203" pitchFamily="34" charset="0"/>
              </a:rPr>
              <a:t>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Gill Sans Ultra Bold" panose="020B0A02020104020203" pitchFamily="34" charset="0"/>
              </a:rPr>
              <a:t>Create a mobile app for all interactions.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Gill Sans Ultra Bold" panose="020B0A020201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Gill Sans Ultra Bold" panose="020B0A02020104020203" pitchFamily="34" charset="0"/>
              </a:rPr>
              <a:t>​Develop a secure, in-app payment system (cashless).​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Gill Sans Ultra Bold" panose="020B0A020201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Gill Sans Ultra Bold" panose="020B0A02020104020203" pitchFamily="34" charset="0"/>
              </a:rPr>
              <a:t>Build a two-way rating system to establish trust.​Use drivers' personal vehicles to scale the "fleet" quickly and flexibly.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698090"/>
          </a:xfrm>
        </p:spPr>
        <p:txBody>
          <a:bodyPr anchor="b"/>
          <a:lstStyle/>
          <a:p>
            <a:r>
              <a:rPr lang="en-US" dirty="0">
                <a:latin typeface="Forte" panose="03060902040502070203" pitchFamily="66" charset="0"/>
              </a:rPr>
              <a:t>PROTOTYPE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1769806"/>
            <a:ext cx="8109772" cy="470084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​</a:t>
            </a:r>
            <a:r>
              <a:rPr lang="en-US" dirty="0">
                <a:latin typeface="Algerian" panose="04020705040A02060702" pitchFamily="82" charset="0"/>
                <a:cs typeface="Aparajita" panose="02020603050405020304" pitchFamily="18" charset="0"/>
              </a:rPr>
              <a:t>First Prototype (</a:t>
            </a:r>
            <a:r>
              <a:rPr lang="en-US" dirty="0" err="1">
                <a:latin typeface="Algerian" panose="04020705040A02060702" pitchFamily="82" charset="0"/>
                <a:cs typeface="Aparajita" panose="02020603050405020304" pitchFamily="18" charset="0"/>
              </a:rPr>
              <a:t>UberBlack</a:t>
            </a:r>
            <a:r>
              <a:rPr lang="en-US" dirty="0">
                <a:latin typeface="Algerian" panose="04020705040A02060702" pitchFamily="82" charset="0"/>
                <a:cs typeface="Aparajita" panose="02020603050405020304" pitchFamily="18" charset="0"/>
              </a:rPr>
              <a:t>):​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A simple app launched in San Francisco.​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Tested only with professional black car drivers and a small user group.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​Focused on testing the core loop: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 1. Request, 2. Match, 3. Ride, 4. Pay (cashless).​</a:t>
            </a:r>
          </a:p>
          <a:p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endParaRPr lang="en-US" dirty="0">
              <a:latin typeface="Algerian" panose="04020705040A02060702" pitchFamily="82" charset="0"/>
              <a:cs typeface="Aparajita" panose="02020603050405020304" pitchFamily="18" charset="0"/>
            </a:endParaRPr>
          </a:p>
          <a:p>
            <a:r>
              <a:rPr lang="en-US" dirty="0">
                <a:latin typeface="Algerian" panose="04020705040A02060702" pitchFamily="82" charset="0"/>
                <a:cs typeface="Aparajita" panose="02020603050405020304" pitchFamily="18" charset="0"/>
              </a:rPr>
              <a:t>Second Prototype (UberX):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​A significant iteration based on the initial test.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​Opened the platform to non-professional drivers with their own personal, pre-vetted vehicles.​</a:t>
            </a:r>
          </a:p>
          <a:p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Prototyped a lower-cost, more scalable model.​4. Test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484633"/>
            <a:ext cx="10360152" cy="914400"/>
          </a:xfrm>
        </p:spPr>
        <p:txBody>
          <a:bodyPr/>
          <a:lstStyle/>
          <a:p>
            <a:r>
              <a:rPr lang="en-US" sz="5400" dirty="0">
                <a:latin typeface="Forte" panose="03060902040502070203" pitchFamily="66" charset="0"/>
              </a:rPr>
              <a:t>TEST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1730478"/>
            <a:ext cx="5181600" cy="4185690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>
                <a:latin typeface="Algerian" panose="04020705040A02060702" pitchFamily="82" charset="0"/>
              </a:rPr>
              <a:t>​Initial Test (</a:t>
            </a:r>
            <a:r>
              <a:rPr lang="en-US" sz="3000" dirty="0" err="1">
                <a:latin typeface="Algerian" panose="04020705040A02060702" pitchFamily="82" charset="0"/>
              </a:rPr>
              <a:t>UberBlack</a:t>
            </a:r>
            <a:r>
              <a:rPr lang="en-US" sz="3000" dirty="0">
                <a:latin typeface="Algerian" panose="04020705040A02060702" pitchFamily="82" charset="0"/>
              </a:rPr>
              <a:t>):​</a:t>
            </a:r>
          </a:p>
          <a:p>
            <a:r>
              <a:rPr lang="en-US" dirty="0">
                <a:latin typeface="Gill Sans Ultra Bold" panose="020B0A02020104020203" pitchFamily="34" charset="0"/>
              </a:rPr>
              <a:t>Feedback: Users loved the "magical" convenience. Drivers valued the new income source.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​Problem Found: Huge supply/demand gaps during peak hours (e.g., New Year's Eve).​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Iteration: Led to the idea and implementation of "Surge Pricing" to incentivize more drivers.​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1592826"/>
            <a:ext cx="5421298" cy="432334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Ongoing Test (UberX Launch):</a:t>
            </a:r>
          </a:p>
          <a:p>
            <a:r>
              <a:rPr lang="en-US" dirty="0"/>
              <a:t>​</a:t>
            </a:r>
            <a:r>
              <a:rPr lang="en-US" dirty="0">
                <a:latin typeface="Gill Sans Ultra Bold" panose="020B0A02020104020203" pitchFamily="34" charset="0"/>
              </a:rPr>
              <a:t>Feedback: Massive adoption by both riders (for cost) and drivers (for flexibility).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​Iteration: This model became the core business. All new features (Uber Pool, upfront pricing, safety tools) are further cycles of prototyping and testing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5DA9A1-4488-9DB6-5E66-17A7FBCF76CC}"/>
              </a:ext>
            </a:extLst>
          </p:cNvPr>
          <p:cNvCxnSpPr>
            <a:cxnSpLocks/>
          </p:cNvCxnSpPr>
          <p:nvPr/>
        </p:nvCxnSpPr>
        <p:spPr>
          <a:xfrm>
            <a:off x="6204155" y="1592826"/>
            <a:ext cx="0" cy="528483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3073" t="-4939" r="7270" b="4939"/>
          <a:stretch>
            <a:fillRect/>
          </a:stretch>
        </p:blipFill>
        <p:spPr>
          <a:xfrm>
            <a:off x="6095999" y="0"/>
            <a:ext cx="6096001" cy="6555026"/>
          </a:xfr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Forte" panose="03060902040502070203" pitchFamily="66" charset="0"/>
              </a:rPr>
              <a:t>Outcomes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45477" y="2039110"/>
            <a:ext cx="6928717" cy="414537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Gill Sans Ultra Bold" panose="020B0A02020104020203" pitchFamily="34" charset="0"/>
              </a:rPr>
              <a:t>Market Disruption: Fundamentally changed the global taxi and logistics industries.​</a:t>
            </a:r>
          </a:p>
          <a:p>
            <a:r>
              <a:rPr lang="en-US" dirty="0">
                <a:latin typeface="Gill Sans Ultra Bold" panose="020B0A02020104020203" pitchFamily="34" charset="0"/>
              </a:rPr>
              <a:t>Creation of the "Gig Economy": Popularized a new model of flexible, independent work for millions.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​Scale: Operates in over 10,000 cities, providing a primary transport alternative.</a:t>
            </a:r>
          </a:p>
          <a:p>
            <a:endParaRPr lang="en-US" dirty="0">
              <a:latin typeface="Gill Sans Ultra Bold" panose="020B0A02020104020203" pitchFamily="34" charset="0"/>
            </a:endParaRPr>
          </a:p>
          <a:p>
            <a:r>
              <a:rPr lang="en-US" dirty="0">
                <a:latin typeface="Gill Sans Ultra Bold" panose="020B0A02020104020203" pitchFamily="34" charset="0"/>
              </a:rPr>
              <a:t>.Platform Expansion: The success of the model allowed for diversification into Uber Eats, Uber Freight, and more.</a:t>
            </a:r>
          </a:p>
          <a:p>
            <a:r>
              <a:rPr lang="en-US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429000"/>
            <a:ext cx="10520516" cy="2514600"/>
          </a:xfrm>
        </p:spPr>
        <p:txBody>
          <a:bodyPr/>
          <a:lstStyle/>
          <a:p>
            <a:r>
              <a:rPr lang="en-US" dirty="0"/>
              <a:t>                               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0140B-99D6-A201-2116-ACF97B5AC7A8}"/>
              </a:ext>
            </a:extLst>
          </p:cNvPr>
          <p:cNvSpPr txBox="1"/>
          <p:nvPr/>
        </p:nvSpPr>
        <p:spPr>
          <a:xfrm>
            <a:off x="1700981" y="1238866"/>
            <a:ext cx="861305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Forte" panose="03060902040502070203" pitchFamily="66" charset="0"/>
              </a:rPr>
              <a:t>                           Key Lesson: </a:t>
            </a:r>
          </a:p>
          <a:p>
            <a:r>
              <a:rPr lang="en-US" sz="3200" dirty="0">
                <a:latin typeface="Forte" panose="03060902040502070203" pitchFamily="66" charset="0"/>
              </a:rPr>
              <a:t>Showed that a human-centered design (focusing on the pain points of riders and drivers) was the key to unlocking a massive new market. </a:t>
            </a:r>
            <a:endParaRPr lang="en-IN" sz="3200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653</Words>
  <Application>Microsoft Office PowerPoint</Application>
  <PresentationFormat>Widescreen</PresentationFormat>
  <Paragraphs>87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Agency FB</vt:lpstr>
      <vt:lpstr>Algerian</vt:lpstr>
      <vt:lpstr>Aparajita</vt:lpstr>
      <vt:lpstr>Arial</vt:lpstr>
      <vt:lpstr>Blackadder ITC</vt:lpstr>
      <vt:lpstr>Calibri</vt:lpstr>
      <vt:lpstr>Courier New</vt:lpstr>
      <vt:lpstr>Forte</vt:lpstr>
      <vt:lpstr>Gill Sans Nova Light</vt:lpstr>
      <vt:lpstr>Gill Sans Ultra Bold</vt:lpstr>
      <vt:lpstr>Ink Free</vt:lpstr>
      <vt:lpstr>Sagona Book</vt:lpstr>
      <vt:lpstr>Wingdings</vt:lpstr>
      <vt:lpstr>Custom</vt:lpstr>
      <vt:lpstr>Uber: revolutionary transportation rethinking how the world moves   Name-Smriti Patel Admn no-2025B01010338 Branch and Sec-CSE-27 SUBJECT-Design Thinking (25HU102) SESSION-(2025-26)  </vt:lpstr>
      <vt:lpstr>Core 5 Stage model CASE STUDY-UBER  </vt:lpstr>
      <vt:lpstr>PowerPoint Presentation</vt:lpstr>
      <vt:lpstr>PowerPoint Presentation</vt:lpstr>
      <vt:lpstr>DEFINE</vt:lpstr>
      <vt:lpstr>IDEATE</vt:lpstr>
      <vt:lpstr>PROTOTYPE</vt:lpstr>
      <vt:lpstr>TEST</vt:lpstr>
      <vt:lpstr>Outcomes &amp; Impact</vt:lpstr>
      <vt:lpstr>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Smriti Patel</dc:creator>
  <cp:lastModifiedBy>Smriti Patel</cp:lastModifiedBy>
  <cp:revision>2</cp:revision>
  <dcterms:created xsi:type="dcterms:W3CDTF">2025-11-05T02:29:21Z</dcterms:created>
  <dcterms:modified xsi:type="dcterms:W3CDTF">2025-11-05T04:43:34Z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